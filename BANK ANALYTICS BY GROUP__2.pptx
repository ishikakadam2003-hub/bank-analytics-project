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0" r:id="rId1"/>
  </p:sldMasterIdLst>
  <p:sldIdLst>
    <p:sldId id="257" r:id="rId2"/>
    <p:sldId id="258" r:id="rId3"/>
    <p:sldId id="259" r:id="rId4"/>
    <p:sldId id="268" r:id="rId5"/>
    <p:sldId id="261" r:id="rId6"/>
    <p:sldId id="262" r:id="rId7"/>
    <p:sldId id="263" r:id="rId8"/>
    <p:sldId id="260" r:id="rId9"/>
    <p:sldId id="269" r:id="rId10"/>
    <p:sldId id="270" r:id="rId11"/>
    <p:sldId id="264" r:id="rId12"/>
    <p:sldId id="265" r:id="rId13"/>
    <p:sldId id="266" r:id="rId14"/>
    <p:sldId id="267"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8" d="100"/>
          <a:sy n="78" d="100"/>
        </p:scale>
        <p:origin x="835"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ishikakadam2003@gmail.com" userId="0807591beae535e2" providerId="LiveId" clId="{B59C4E44-7AC1-4882-9ED9-E69D649FC3B0}"/>
    <pc:docChg chg="custSel modSld">
      <pc:chgData name="ishikakadam2003@gmail.com" userId="0807591beae535e2" providerId="LiveId" clId="{B59C4E44-7AC1-4882-9ED9-E69D649FC3B0}" dt="2026-06-08T08:52:59.062" v="1" actId="27636"/>
      <pc:docMkLst>
        <pc:docMk/>
      </pc:docMkLst>
      <pc:sldChg chg="modSp mod">
        <pc:chgData name="ishikakadam2003@gmail.com" userId="0807591beae535e2" providerId="LiveId" clId="{B59C4E44-7AC1-4882-9ED9-E69D649FC3B0}" dt="2026-06-08T08:52:59.062" v="1" actId="27636"/>
        <pc:sldMkLst>
          <pc:docMk/>
          <pc:sldMk cId="47484182" sldId="257"/>
        </pc:sldMkLst>
        <pc:spChg chg="mod">
          <ac:chgData name="ishikakadam2003@gmail.com" userId="0807591beae535e2" providerId="LiveId" clId="{B59C4E44-7AC1-4882-9ED9-E69D649FC3B0}" dt="2026-06-08T08:52:59.062" v="1" actId="27636"/>
          <ac:spMkLst>
            <pc:docMk/>
            <pc:sldMk cId="47484182" sldId="257"/>
            <ac:spMk id="3" creationId="{B6734018-C47D-3882-349D-614EDB4B51D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08-06-2026</a:t>
            </a:fld>
            <a:endParaRPr lang="en-IN"/>
          </a:p>
        </p:txBody>
      </p:sp>
      <p:sp>
        <p:nvSpPr>
          <p:cNvPr id="5" name="Footer Placeholder 4"/>
          <p:cNvSpPr>
            <a:spLocks noGrp="1"/>
          </p:cNvSpPr>
          <p:nvPr>
            <p:ph type="ftr" sz="quarter" idx="11"/>
          </p:nvPr>
        </p:nvSpPr>
        <p:spPr>
          <a:xfrm>
            <a:off x="2416500" y="329307"/>
            <a:ext cx="4973915" cy="309201"/>
          </a:xfrm>
        </p:spPr>
        <p:txBody>
          <a:bodyPr/>
          <a:lstStyle/>
          <a:p>
            <a:endParaRPr lang="en-IN"/>
          </a:p>
        </p:txBody>
      </p:sp>
      <p:sp>
        <p:nvSpPr>
          <p:cNvPr id="6" name="Slide Number Placeholder 5"/>
          <p:cNvSpPr>
            <a:spLocks noGrp="1"/>
          </p:cNvSpPr>
          <p:nvPr>
            <p:ph type="sldNum" sz="quarter" idx="12"/>
          </p:nvPr>
        </p:nvSpPr>
        <p:spPr>
          <a:xfrm>
            <a:off x="1437664" y="798973"/>
            <a:ext cx="811019" cy="503578"/>
          </a:xfrm>
        </p:spPr>
        <p:txBody>
          <a:bodyPr/>
          <a:lstStyle/>
          <a:p>
            <a:fld id="{532A8729-3BB7-4CCA-9A9D-5F169F02DD90}"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392409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940629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0488DB-B7CD-4A17-A641-C216CB9B2EC6}"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762724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0488DB-B7CD-4A17-A641-C216CB9B2EC6}"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5860086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0488DB-B7CD-4A17-A641-C216CB9B2EC6}" type="datetimeFigureOut">
              <a:rPr lang="en-IN" smtClean="0"/>
              <a:t>08-06-2026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32A8729-3BB7-4CCA-9A9D-5F169F02DD90}"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252034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0488DB-B7CD-4A17-A641-C216CB9B2EC6}" type="datetimeFigureOut">
              <a:rPr lang="en-IN" smtClean="0"/>
              <a:t>08-06-2026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32A8729-3BB7-4CCA-9A9D-5F169F02DD90}"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32918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0488DB-B7CD-4A17-A641-C216CB9B2EC6}" type="datetimeFigureOut">
              <a:rPr lang="en-IN" smtClean="0"/>
              <a:t>08-06-2026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32A8729-3BB7-4CCA-9A9D-5F169F02DD90}" type="slidenum">
              <a:rPr lang="en-IN" smtClean="0"/>
              <a:t>‹#›</a:t>
            </a:fld>
            <a:endParaRPr lang="en-IN"/>
          </a:p>
        </p:txBody>
      </p:sp>
    </p:spTree>
    <p:extLst>
      <p:ext uri="{BB962C8B-B14F-4D97-AF65-F5344CB8AC3E}">
        <p14:creationId xmlns:p14="http://schemas.microsoft.com/office/powerpoint/2010/main" val="4051816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0488DB-B7CD-4A17-A641-C216CB9B2EC6}" type="datetimeFigureOut">
              <a:rPr lang="en-IN" smtClean="0"/>
              <a:t>08-06-2026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0417386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290488DB-B7CD-4A17-A641-C216CB9B2EC6}" type="datetimeFigureOut">
              <a:rPr lang="en-IN" smtClean="0"/>
              <a:t>08-06-2026</a:t>
            </a:fld>
            <a:endParaRPr lang="en-IN"/>
          </a:p>
        </p:txBody>
      </p:sp>
      <p:sp>
        <p:nvSpPr>
          <p:cNvPr id="6" name="Footer Placeholder 5"/>
          <p:cNvSpPr>
            <a:spLocks noGrp="1"/>
          </p:cNvSpPr>
          <p:nvPr>
            <p:ph type="ftr" sz="quarter" idx="11"/>
          </p:nvPr>
        </p:nvSpPr>
        <p:spPr>
          <a:xfrm>
            <a:off x="1447382" y="318640"/>
            <a:ext cx="5541004" cy="320931"/>
          </a:xfrm>
        </p:spPr>
        <p:txBody>
          <a:bodyPr/>
          <a:lstStyle/>
          <a:p>
            <a:endParaRPr lang="en-IN"/>
          </a:p>
        </p:txBody>
      </p:sp>
      <p:sp>
        <p:nvSpPr>
          <p:cNvPr id="7" name="Slide Number Placeholder 6"/>
          <p:cNvSpPr>
            <a:spLocks noGrp="1"/>
          </p:cNvSpPr>
          <p:nvPr>
            <p:ph type="sldNum" sz="quarter" idx="12"/>
          </p:nvPr>
        </p:nvSpPr>
        <p:spPr/>
        <p:txBody>
          <a:bodyPr/>
          <a:lstStyle/>
          <a:p>
            <a:fld id="{532A8729-3BB7-4CCA-9A9D-5F169F02DD90}"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752369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235594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0488DB-B7CD-4A17-A641-C216CB9B2EC6}" type="datetimeFigureOut">
              <a:rPr lang="en-IN" smtClean="0"/>
              <a:t>08-06-2026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32A8729-3BB7-4CCA-9A9D-5F169F02DD90}"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5830287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290488DB-B7CD-4A17-A641-C216CB9B2EC6}" type="datetimeFigureOut">
              <a:rPr lang="en-IN" smtClean="0"/>
              <a:t>08-06-2026</a:t>
            </a:fld>
            <a:endParaRPr lang="en-IN"/>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532A8729-3BB7-4CCA-9A9D-5F169F02DD90}" type="slidenum">
              <a:rPr lang="en-IN" smtClean="0"/>
              <a:t>‹#›</a:t>
            </a:fld>
            <a:endParaRPr lang="en-IN"/>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584535"/>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0.jpe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EA6EB-B1EB-43BF-1852-473133CD531D}"/>
              </a:ext>
            </a:extLst>
          </p:cNvPr>
          <p:cNvSpPr>
            <a:spLocks noGrp="1"/>
          </p:cNvSpPr>
          <p:nvPr>
            <p:ph type="title"/>
          </p:nvPr>
        </p:nvSpPr>
        <p:spPr/>
        <p:txBody>
          <a:bodyPr/>
          <a:lstStyle/>
          <a:p>
            <a:r>
              <a:rPr lang="en-IN" dirty="0"/>
              <a:t>BANK ANALYTICS BY GROUP-2</a:t>
            </a:r>
          </a:p>
        </p:txBody>
      </p:sp>
      <p:sp>
        <p:nvSpPr>
          <p:cNvPr id="3" name="Content Placeholder 2">
            <a:extLst>
              <a:ext uri="{FF2B5EF4-FFF2-40B4-BE49-F238E27FC236}">
                <a16:creationId xmlns:a16="http://schemas.microsoft.com/office/drawing/2014/main" id="{B6734018-C47D-3882-349D-614EDB4B51D9}"/>
              </a:ext>
            </a:extLst>
          </p:cNvPr>
          <p:cNvSpPr>
            <a:spLocks noGrp="1"/>
          </p:cNvSpPr>
          <p:nvPr>
            <p:ph idx="1"/>
          </p:nvPr>
        </p:nvSpPr>
        <p:spPr/>
        <p:txBody>
          <a:bodyPr>
            <a:normAutofit/>
          </a:bodyPr>
          <a:lstStyle/>
          <a:p>
            <a:r>
              <a:rPr lang="en-IN" dirty="0"/>
              <a:t>Presented By: </a:t>
            </a:r>
          </a:p>
          <a:p>
            <a:r>
              <a:rPr lang="en-IN" dirty="0"/>
              <a:t>Ishika Kadam </a:t>
            </a:r>
          </a:p>
          <a:p>
            <a:endParaRPr lang="en-IN" dirty="0"/>
          </a:p>
        </p:txBody>
      </p:sp>
    </p:spTree>
    <p:extLst>
      <p:ext uri="{BB962C8B-B14F-4D97-AF65-F5344CB8AC3E}">
        <p14:creationId xmlns:p14="http://schemas.microsoft.com/office/powerpoint/2010/main" val="474841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42B64A-4D86-0F45-0659-0D1F51959615}"/>
              </a:ext>
            </a:extLst>
          </p:cNvPr>
          <p:cNvSpPr>
            <a:spLocks noGrp="1"/>
          </p:cNvSpPr>
          <p:nvPr>
            <p:ph type="title"/>
          </p:nvPr>
        </p:nvSpPr>
        <p:spPr/>
        <p:txBody>
          <a:bodyPr/>
          <a:lstStyle/>
          <a:p>
            <a:r>
              <a:rPr lang="en-IN" dirty="0"/>
              <a:t>Project Overview</a:t>
            </a:r>
          </a:p>
        </p:txBody>
      </p:sp>
      <p:sp>
        <p:nvSpPr>
          <p:cNvPr id="3" name="Content Placeholder 2">
            <a:extLst>
              <a:ext uri="{FF2B5EF4-FFF2-40B4-BE49-F238E27FC236}">
                <a16:creationId xmlns:a16="http://schemas.microsoft.com/office/drawing/2014/main" id="{BE7B9730-5A19-7152-8E65-19DD8E1C3F17}"/>
              </a:ext>
            </a:extLst>
          </p:cNvPr>
          <p:cNvSpPr>
            <a:spLocks noGrp="1"/>
          </p:cNvSpPr>
          <p:nvPr>
            <p:ph idx="1"/>
          </p:nvPr>
        </p:nvSpPr>
        <p:spPr/>
        <p:txBody>
          <a:bodyPr/>
          <a:lstStyle/>
          <a:p>
            <a:r>
              <a:rPr lang="en-US" dirty="0"/>
              <a:t>This project transforms raw Finance data into actionable insights to support informed business decisions.</a:t>
            </a:r>
          </a:p>
          <a:p>
            <a:r>
              <a:rPr lang="en-US" dirty="0"/>
              <a:t> Objective: Analyze Finance data to derive business insights</a:t>
            </a:r>
          </a:p>
          <a:p>
            <a:r>
              <a:rPr lang="en-US" dirty="0"/>
              <a:t> Dataset size: 39,700+ records </a:t>
            </a:r>
          </a:p>
          <a:p>
            <a:r>
              <a:rPr lang="en-US" dirty="0"/>
              <a:t>Tools used: SQL, Excel, Tableau, Power BI</a:t>
            </a:r>
            <a:endParaRPr lang="en-IN" dirty="0"/>
          </a:p>
        </p:txBody>
      </p:sp>
    </p:spTree>
    <p:extLst>
      <p:ext uri="{BB962C8B-B14F-4D97-AF65-F5344CB8AC3E}">
        <p14:creationId xmlns:p14="http://schemas.microsoft.com/office/powerpoint/2010/main" val="1883669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963772-0ADD-6878-758F-3EC07914BE12}"/>
              </a:ext>
            </a:extLst>
          </p:cNvPr>
          <p:cNvSpPr>
            <a:spLocks noGrp="1"/>
          </p:cNvSpPr>
          <p:nvPr>
            <p:ph type="title"/>
          </p:nvPr>
        </p:nvSpPr>
        <p:spPr/>
        <p:txBody>
          <a:bodyPr>
            <a:normAutofit/>
          </a:bodyPr>
          <a:lstStyle/>
          <a:p>
            <a:r>
              <a:rPr lang="en-IN" dirty="0"/>
              <a:t>END-TO-END PROJECT WORKFLOW</a:t>
            </a:r>
          </a:p>
        </p:txBody>
      </p:sp>
      <p:sp>
        <p:nvSpPr>
          <p:cNvPr id="3" name="Content Placeholder 2">
            <a:extLst>
              <a:ext uri="{FF2B5EF4-FFF2-40B4-BE49-F238E27FC236}">
                <a16:creationId xmlns:a16="http://schemas.microsoft.com/office/drawing/2014/main" id="{DAE4D308-F23E-1BEA-F394-9DFC9A0E912E}"/>
              </a:ext>
            </a:extLst>
          </p:cNvPr>
          <p:cNvSpPr>
            <a:spLocks noGrp="1"/>
          </p:cNvSpPr>
          <p:nvPr>
            <p:ph idx="1"/>
          </p:nvPr>
        </p:nvSpPr>
        <p:spPr/>
        <p:txBody>
          <a:bodyPr>
            <a:normAutofit/>
          </a:bodyPr>
          <a:lstStyle/>
          <a:p>
            <a:r>
              <a:rPr lang="en-US" dirty="0"/>
              <a:t>This structured workflow ensured data accuracy and enabled reliable, actionable business insights.</a:t>
            </a:r>
          </a:p>
          <a:p>
            <a:r>
              <a:rPr lang="en-US" dirty="0"/>
              <a:t> Data Understanding </a:t>
            </a:r>
          </a:p>
          <a:p>
            <a:r>
              <a:rPr lang="en-US" dirty="0"/>
              <a:t>Data Cleaning &amp; Transformation (Excel Power Query)</a:t>
            </a:r>
          </a:p>
          <a:p>
            <a:r>
              <a:rPr lang="en-US" dirty="0"/>
              <a:t> KPI Identification </a:t>
            </a:r>
          </a:p>
          <a:p>
            <a:r>
              <a:rPr lang="en-US" dirty="0"/>
              <a:t>Visualization &amp; Dashboarding </a:t>
            </a:r>
          </a:p>
          <a:p>
            <a:r>
              <a:rPr lang="en-US" dirty="0"/>
              <a:t>Business Insights &amp; Recommendations</a:t>
            </a:r>
            <a:endParaRPr lang="en-IN" dirty="0"/>
          </a:p>
        </p:txBody>
      </p:sp>
    </p:spTree>
    <p:extLst>
      <p:ext uri="{BB962C8B-B14F-4D97-AF65-F5344CB8AC3E}">
        <p14:creationId xmlns:p14="http://schemas.microsoft.com/office/powerpoint/2010/main" val="25425828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4D3D0D-2048-ECD8-C8D0-DE18B25D68EA}"/>
              </a:ext>
            </a:extLst>
          </p:cNvPr>
          <p:cNvSpPr>
            <a:spLocks noGrp="1"/>
          </p:cNvSpPr>
          <p:nvPr>
            <p:ph type="title"/>
          </p:nvPr>
        </p:nvSpPr>
        <p:spPr>
          <a:xfrm>
            <a:off x="1451579" y="981501"/>
            <a:ext cx="9603275" cy="587136"/>
          </a:xfrm>
        </p:spPr>
        <p:txBody>
          <a:bodyPr>
            <a:normAutofit/>
          </a:bodyPr>
          <a:lstStyle/>
          <a:p>
            <a:r>
              <a:rPr lang="en-IN" dirty="0"/>
              <a:t>OBJECTIVE</a:t>
            </a:r>
          </a:p>
        </p:txBody>
      </p:sp>
      <p:sp>
        <p:nvSpPr>
          <p:cNvPr id="4" name="Rectangle 1">
            <a:extLst>
              <a:ext uri="{FF2B5EF4-FFF2-40B4-BE49-F238E27FC236}">
                <a16:creationId xmlns:a16="http://schemas.microsoft.com/office/drawing/2014/main" id="{D127D78B-17D6-92AF-10F5-FF469DD79D84}"/>
              </a:ext>
            </a:extLst>
          </p:cNvPr>
          <p:cNvSpPr>
            <a:spLocks noGrp="1" noChangeArrowheads="1"/>
          </p:cNvSpPr>
          <p:nvPr>
            <p:ph idx="1"/>
          </p:nvPr>
        </p:nvSpPr>
        <p:spPr bwMode="auto">
          <a:xfrm>
            <a:off x="1451579" y="2617656"/>
            <a:ext cx="9737531"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ClrTx/>
              <a:buSzTx/>
              <a:buNone/>
            </a:pPr>
            <a:r>
              <a:rPr lang="en-US" dirty="0"/>
              <a:t>The objective of this project is to analyze the bank’s loan portfolio by distinguishing between reliable borrowers and those with higher default risk. It focuses on measuring profitability by comparing funded amounts with repayments and highlighting the role of interest income. The project also emphasizes selecting suitable KPIs and visualizations to present complex financial data in a clear and accessible way. Finally, the insights are delivered through interactive dashboards that support informed, data‑driven decisions.</a:t>
            </a:r>
          </a:p>
          <a:p>
            <a:pPr marL="0" lvl="0" indent="0" eaLnBrk="0" fontAlgn="base" hangingPunct="0">
              <a:lnSpc>
                <a:spcPct val="100000"/>
              </a:lnSpc>
              <a:spcBef>
                <a:spcPct val="0"/>
              </a:spcBef>
              <a:spcAft>
                <a:spcPct val="0"/>
              </a:spcAft>
              <a:buClrTx/>
              <a:buSzTx/>
              <a:buNone/>
            </a:pPr>
            <a:endParaRPr kumimoji="0" lang="en-US" altLang="en-US"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5787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4D44FA-0836-A55F-E219-D60925694657}"/>
              </a:ext>
            </a:extLst>
          </p:cNvPr>
          <p:cNvSpPr>
            <a:spLocks noGrp="1"/>
          </p:cNvSpPr>
          <p:nvPr>
            <p:ph type="title"/>
          </p:nvPr>
        </p:nvSpPr>
        <p:spPr/>
        <p:txBody>
          <a:bodyPr/>
          <a:lstStyle/>
          <a:p>
            <a:r>
              <a:rPr lang="en-IN" dirty="0"/>
              <a:t>Excel Dashboard</a:t>
            </a:r>
          </a:p>
        </p:txBody>
      </p:sp>
      <p:pic>
        <p:nvPicPr>
          <p:cNvPr id="5" name="Content Placeholder 4">
            <a:extLst>
              <a:ext uri="{FF2B5EF4-FFF2-40B4-BE49-F238E27FC236}">
                <a16:creationId xmlns:a16="http://schemas.microsoft.com/office/drawing/2014/main" id="{FFCE4499-C32C-BD2F-43FE-48AD3034431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80" y="1921934"/>
            <a:ext cx="9603274" cy="4021666"/>
          </a:xfrm>
        </p:spPr>
      </p:pic>
    </p:spTree>
    <p:extLst>
      <p:ext uri="{BB962C8B-B14F-4D97-AF65-F5344CB8AC3E}">
        <p14:creationId xmlns:p14="http://schemas.microsoft.com/office/powerpoint/2010/main" val="1970098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549233-CC50-F073-508B-2F6F50C5E771}"/>
              </a:ext>
            </a:extLst>
          </p:cNvPr>
          <p:cNvSpPr>
            <a:spLocks noGrp="1"/>
          </p:cNvSpPr>
          <p:nvPr>
            <p:ph type="title"/>
          </p:nvPr>
        </p:nvSpPr>
        <p:spPr/>
        <p:txBody>
          <a:bodyPr/>
          <a:lstStyle/>
          <a:p>
            <a:r>
              <a:rPr lang="en-IN" dirty="0" err="1"/>
              <a:t>Powerbi</a:t>
            </a:r>
            <a:r>
              <a:rPr lang="en-IN" dirty="0"/>
              <a:t> Dashboard</a:t>
            </a:r>
          </a:p>
        </p:txBody>
      </p:sp>
      <p:pic>
        <p:nvPicPr>
          <p:cNvPr id="5" name="Content Placeholder 4">
            <a:extLst>
              <a:ext uri="{FF2B5EF4-FFF2-40B4-BE49-F238E27FC236}">
                <a16:creationId xmlns:a16="http://schemas.microsoft.com/office/drawing/2014/main" id="{4C81C619-7268-1B6B-0547-E0315995452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78" y="1853754"/>
            <a:ext cx="9603275" cy="4199727"/>
          </a:xfrm>
        </p:spPr>
      </p:pic>
    </p:spTree>
    <p:extLst>
      <p:ext uri="{BB962C8B-B14F-4D97-AF65-F5344CB8AC3E}">
        <p14:creationId xmlns:p14="http://schemas.microsoft.com/office/powerpoint/2010/main" val="431851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DA57A-5BC2-A777-4EA9-67BAAACD5FE1}"/>
              </a:ext>
            </a:extLst>
          </p:cNvPr>
          <p:cNvSpPr>
            <a:spLocks noGrp="1"/>
          </p:cNvSpPr>
          <p:nvPr>
            <p:ph type="title"/>
          </p:nvPr>
        </p:nvSpPr>
        <p:spPr/>
        <p:txBody>
          <a:bodyPr/>
          <a:lstStyle/>
          <a:p>
            <a:r>
              <a:rPr lang="en-IN" dirty="0"/>
              <a:t>Tableau Dashboard</a:t>
            </a:r>
          </a:p>
        </p:txBody>
      </p:sp>
      <p:pic>
        <p:nvPicPr>
          <p:cNvPr id="5" name="Content Placeholder 4">
            <a:extLst>
              <a:ext uri="{FF2B5EF4-FFF2-40B4-BE49-F238E27FC236}">
                <a16:creationId xmlns:a16="http://schemas.microsoft.com/office/drawing/2014/main" id="{9D3DE97B-BAE0-37BC-564A-33CFE2DA301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51579" y="1853754"/>
            <a:ext cx="9665154" cy="3988246"/>
          </a:xfrm>
        </p:spPr>
      </p:pic>
    </p:spTree>
    <p:extLst>
      <p:ext uri="{BB962C8B-B14F-4D97-AF65-F5344CB8AC3E}">
        <p14:creationId xmlns:p14="http://schemas.microsoft.com/office/powerpoint/2010/main" val="18735652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654250-3597-0E5A-BD41-8CEF8A1F209E}"/>
              </a:ext>
            </a:extLst>
          </p:cNvPr>
          <p:cNvSpPr>
            <a:spLocks noGrp="1"/>
          </p:cNvSpPr>
          <p:nvPr>
            <p:ph type="title"/>
          </p:nvPr>
        </p:nvSpPr>
        <p:spPr/>
        <p:txBody>
          <a:bodyPr/>
          <a:lstStyle/>
          <a:p>
            <a:r>
              <a:rPr lang="en-IN" dirty="0"/>
              <a:t>SQL KPI’S</a:t>
            </a:r>
          </a:p>
        </p:txBody>
      </p:sp>
      <p:pic>
        <p:nvPicPr>
          <p:cNvPr id="5" name="Content Placeholder 4">
            <a:extLst>
              <a:ext uri="{FF2B5EF4-FFF2-40B4-BE49-F238E27FC236}">
                <a16:creationId xmlns:a16="http://schemas.microsoft.com/office/drawing/2014/main" id="{7FC2BB2E-584D-4E40-EC83-92EBE416D24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53755"/>
            <a:ext cx="3318933" cy="1448246"/>
          </a:xfrm>
        </p:spPr>
      </p:pic>
      <p:pic>
        <p:nvPicPr>
          <p:cNvPr id="7" name="Picture 6">
            <a:extLst>
              <a:ext uri="{FF2B5EF4-FFF2-40B4-BE49-F238E27FC236}">
                <a16:creationId xmlns:a16="http://schemas.microsoft.com/office/drawing/2014/main" id="{1A844C05-51F3-BEB6-3B24-1B2F4D700EE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37467" y="1853755"/>
            <a:ext cx="4131733" cy="1448246"/>
          </a:xfrm>
          <a:prstGeom prst="rect">
            <a:avLst/>
          </a:prstGeom>
        </p:spPr>
      </p:pic>
      <p:pic>
        <p:nvPicPr>
          <p:cNvPr id="9" name="Picture 8">
            <a:extLst>
              <a:ext uri="{FF2B5EF4-FFF2-40B4-BE49-F238E27FC236}">
                <a16:creationId xmlns:a16="http://schemas.microsoft.com/office/drawing/2014/main" id="{F47703A2-EC5E-4A9B-4BE2-CDE7FEBF97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5467" y="1853754"/>
            <a:ext cx="4318001" cy="1448246"/>
          </a:xfrm>
          <a:prstGeom prst="rect">
            <a:avLst/>
          </a:prstGeom>
        </p:spPr>
      </p:pic>
      <p:pic>
        <p:nvPicPr>
          <p:cNvPr id="11" name="Picture 10">
            <a:extLst>
              <a:ext uri="{FF2B5EF4-FFF2-40B4-BE49-F238E27FC236}">
                <a16:creationId xmlns:a16="http://schemas.microsoft.com/office/drawing/2014/main" id="{28AC0C6A-F371-C0AC-C82D-56516F67968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 y="3429000"/>
            <a:ext cx="3318932" cy="2624481"/>
          </a:xfrm>
          <a:prstGeom prst="rect">
            <a:avLst/>
          </a:prstGeom>
        </p:spPr>
      </p:pic>
      <p:pic>
        <p:nvPicPr>
          <p:cNvPr id="13" name="Picture 12">
            <a:extLst>
              <a:ext uri="{FF2B5EF4-FFF2-40B4-BE49-F238E27FC236}">
                <a16:creationId xmlns:a16="http://schemas.microsoft.com/office/drawing/2014/main" id="{E9957AC3-4463-F77A-2CE1-F920E5BF59B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539067" y="3429000"/>
            <a:ext cx="4216400" cy="2624481"/>
          </a:xfrm>
          <a:prstGeom prst="rect">
            <a:avLst/>
          </a:prstGeom>
        </p:spPr>
      </p:pic>
      <p:pic>
        <p:nvPicPr>
          <p:cNvPr id="15" name="Picture 14">
            <a:extLst>
              <a:ext uri="{FF2B5EF4-FFF2-40B4-BE49-F238E27FC236}">
                <a16:creationId xmlns:a16="http://schemas.microsoft.com/office/drawing/2014/main" id="{47177CBB-0DEF-34B2-99EC-D1E3B3B3412D}"/>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873999" y="3429000"/>
            <a:ext cx="4318001" cy="2624479"/>
          </a:xfrm>
          <a:prstGeom prst="rect">
            <a:avLst/>
          </a:prstGeom>
        </p:spPr>
      </p:pic>
    </p:spTree>
    <p:extLst>
      <p:ext uri="{BB962C8B-B14F-4D97-AF65-F5344CB8AC3E}">
        <p14:creationId xmlns:p14="http://schemas.microsoft.com/office/powerpoint/2010/main" val="28945577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99FB-105A-E21D-112F-F8E64130786E}"/>
              </a:ext>
            </a:extLst>
          </p:cNvPr>
          <p:cNvSpPr>
            <a:spLocks noGrp="1"/>
          </p:cNvSpPr>
          <p:nvPr>
            <p:ph type="title"/>
          </p:nvPr>
        </p:nvSpPr>
        <p:spPr/>
        <p:txBody>
          <a:bodyPr>
            <a:normAutofit/>
          </a:bodyPr>
          <a:lstStyle/>
          <a:p>
            <a:r>
              <a:rPr lang="en-IN" sz="3600" dirty="0"/>
              <a:t>CHALLENGES</a:t>
            </a:r>
          </a:p>
        </p:txBody>
      </p:sp>
      <p:sp>
        <p:nvSpPr>
          <p:cNvPr id="5" name="Rectangle 2">
            <a:extLst>
              <a:ext uri="{FF2B5EF4-FFF2-40B4-BE49-F238E27FC236}">
                <a16:creationId xmlns:a16="http://schemas.microsoft.com/office/drawing/2014/main" id="{1D4C0136-581C-75BA-A607-4F189FF066B0}"/>
              </a:ext>
            </a:extLst>
          </p:cNvPr>
          <p:cNvSpPr>
            <a:spLocks noGrp="1" noChangeArrowheads="1"/>
          </p:cNvSpPr>
          <p:nvPr>
            <p:ph idx="1"/>
          </p:nvPr>
        </p:nvSpPr>
        <p:spPr bwMode="auto">
          <a:xfrm>
            <a:off x="1451579" y="2083163"/>
            <a:ext cx="11369310"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Large Data Volume</a:t>
            </a:r>
            <a:r>
              <a:rPr lang="en-US" altLang="en-US" sz="1800" dirty="0">
                <a:latin typeface="Arial" panose="020B0604020202020204" pitchFamily="34" charset="0"/>
              </a:rPr>
              <a:t> – Managing 39k+ loan records with multiple attributes required </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efficient query design.</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a:t>
            </a: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Data Cleaning in Power Query</a:t>
            </a:r>
            <a:r>
              <a:rPr lang="en-US" altLang="en-US" sz="1800" dirty="0">
                <a:latin typeface="Arial" panose="020B0604020202020204" pitchFamily="34" charset="0"/>
              </a:rPr>
              <a:t> – Handling missing values and inconsistent formats</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demanded careful preprocessing.</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Dashboard Consistency</a:t>
            </a:r>
            <a:r>
              <a:rPr lang="en-US" altLang="en-US" sz="1800" dirty="0">
                <a:latin typeface="Arial" panose="020B0604020202020204" pitchFamily="34" charset="0"/>
              </a:rPr>
              <a:t> – Ensuring KPIs aligned across Excel, Tableau, and Power BI</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was a major integration challenge.</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Fast Reporting Under Heavy Loads</a:t>
            </a:r>
            <a:r>
              <a:rPr lang="en-US" altLang="en-US" sz="1800" dirty="0">
                <a:latin typeface="Arial" panose="020B0604020202020204" pitchFamily="34" charset="0"/>
              </a:rPr>
              <a:t> – Query optimization was essential to deliver timely insights</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despite heavy datasets.</a:t>
            </a:r>
          </a:p>
          <a:p>
            <a:pPr marL="0" lvl="0" indent="0" eaLnBrk="0" fontAlgn="base" hangingPunct="0">
              <a:lnSpc>
                <a:spcPct val="100000"/>
              </a:lnSpc>
              <a:spcBef>
                <a:spcPct val="0"/>
              </a:spcBef>
              <a:spcAft>
                <a:spcPct val="0"/>
              </a:spcAft>
              <a:buClrTx/>
              <a:buSzTx/>
              <a:buNone/>
            </a:pPr>
            <a:endParaRPr lang="en-US" altLang="en-US" sz="1800" dirty="0">
              <a:latin typeface="Arial" panose="020B0604020202020204" pitchFamily="34" charset="0"/>
            </a:endParaRPr>
          </a:p>
          <a:p>
            <a:pPr marL="0" lvl="0" indent="0" eaLnBrk="0" fontAlgn="base" hangingPunct="0">
              <a:lnSpc>
                <a:spcPct val="100000"/>
              </a:lnSpc>
              <a:spcBef>
                <a:spcPct val="0"/>
              </a:spcBef>
              <a:spcAft>
                <a:spcPct val="0"/>
              </a:spcAft>
              <a:buClrTx/>
              <a:buSzTx/>
              <a:buNone/>
            </a:pPr>
            <a:r>
              <a:rPr lang="en-US" altLang="en-US" sz="1800" b="1" dirty="0">
                <a:latin typeface="Arial" panose="020B0604020202020204" pitchFamily="34" charset="0"/>
              </a:rPr>
              <a:t>Picking Suitable Charts</a:t>
            </a:r>
            <a:r>
              <a:rPr lang="en-US" altLang="en-US" sz="1800" dirty="0">
                <a:latin typeface="Arial" panose="020B0604020202020204" pitchFamily="34" charset="0"/>
              </a:rPr>
              <a:t> – Selecting the right visualization to represent KPIs clearly for </a:t>
            </a:r>
          </a:p>
          <a:p>
            <a:pPr marL="0" lvl="0" indent="0" eaLnBrk="0" fontAlgn="base" hangingPunct="0">
              <a:lnSpc>
                <a:spcPct val="100000"/>
              </a:lnSpc>
              <a:spcBef>
                <a:spcPct val="0"/>
              </a:spcBef>
              <a:spcAft>
                <a:spcPct val="0"/>
              </a:spcAft>
              <a:buClrTx/>
              <a:buSzTx/>
              <a:buNone/>
            </a:pPr>
            <a:r>
              <a:rPr lang="en-US" altLang="en-US" sz="1800" dirty="0">
                <a:latin typeface="Arial" panose="020B0604020202020204" pitchFamily="34" charset="0"/>
              </a:rPr>
              <a:t>                                             both technical and non‑technical audiences.</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25079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420DAC-4B5C-786F-4AFC-6E60875731C4}"/>
              </a:ext>
            </a:extLst>
          </p:cNvPr>
          <p:cNvSpPr>
            <a:spLocks noGrp="1"/>
          </p:cNvSpPr>
          <p:nvPr>
            <p:ph type="title"/>
          </p:nvPr>
        </p:nvSpPr>
        <p:spPr/>
        <p:txBody>
          <a:bodyPr/>
          <a:lstStyle/>
          <a:p>
            <a:r>
              <a:rPr lang="en-IN" dirty="0"/>
              <a:t>KPI’s :</a:t>
            </a:r>
          </a:p>
        </p:txBody>
      </p:sp>
      <p:sp>
        <p:nvSpPr>
          <p:cNvPr id="4" name="Rectangle 1">
            <a:extLst>
              <a:ext uri="{FF2B5EF4-FFF2-40B4-BE49-F238E27FC236}">
                <a16:creationId xmlns:a16="http://schemas.microsoft.com/office/drawing/2014/main" id="{CD57F1E3-CFEB-CF13-A007-B1D75CCDFC57}"/>
              </a:ext>
            </a:extLst>
          </p:cNvPr>
          <p:cNvSpPr>
            <a:spLocks noGrp="1" noChangeArrowheads="1"/>
          </p:cNvSpPr>
          <p:nvPr>
            <p:ph idx="1"/>
          </p:nvPr>
        </p:nvSpPr>
        <p:spPr bwMode="auto">
          <a:xfrm>
            <a:off x="1428818" y="1994875"/>
            <a:ext cx="9648795" cy="3970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Total Customers</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number of unique customers served by the bank.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A growing customer base signals market expansion and stronger brand trust.</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Total Amount</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overall loan amount disbursed to customers.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Rising totals indicate increasing demand for credit and portfolio growth.</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Revolving Balance</a:t>
            </a:r>
            <a:r>
              <a:rPr lang="en-US" altLang="en-US" sz="1800" dirty="0">
                <a:latin typeface="Arial" panose="020B0604020202020204" pitchFamily="34" charset="0"/>
              </a:rPr>
              <a:t> :</a:t>
            </a:r>
            <a:r>
              <a:rPr kumimoji="0" lang="en-US" altLang="en-US" sz="1800" b="0" i="0" u="none" strike="noStrike" cap="none" normalizeH="0" baseline="0" dirty="0">
                <a:ln>
                  <a:noFill/>
                </a:ln>
                <a:solidFill>
                  <a:schemeClr val="tx1"/>
                </a:solidFill>
                <a:effectLst/>
                <a:latin typeface="Arial" panose="020B0604020202020204" pitchFamily="34" charset="0"/>
              </a:rPr>
              <a:t> The outstanding balance customers carry on revolving credit.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High balances highlight ongoing credit usage and repayment dependency.</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a:ln>
                  <a:noFill/>
                </a:ln>
                <a:solidFill>
                  <a:schemeClr val="tx1"/>
                </a:solidFill>
                <a:effectLst/>
                <a:latin typeface="Arial" panose="020B0604020202020204" pitchFamily="34" charset="0"/>
              </a:rPr>
              <a:t>Total Payment</a:t>
            </a:r>
            <a:r>
              <a:rPr lang="en-US" altLang="en-US" sz="1800">
                <a:latin typeface="Arial" panose="020B0604020202020204" pitchFamily="34" charset="0"/>
              </a:rPr>
              <a:t> : </a:t>
            </a:r>
            <a:r>
              <a:rPr kumimoji="0" lang="en-US" altLang="en-US" sz="1800" b="0" i="0" u="none" strike="noStrike" cap="none" normalizeH="0" baseline="0">
                <a:ln>
                  <a:noFill/>
                </a:ln>
                <a:solidFill>
                  <a:schemeClr val="tx1"/>
                </a:solidFill>
                <a:effectLst/>
                <a:latin typeface="Arial" panose="020B0604020202020204" pitchFamily="34" charset="0"/>
              </a:rPr>
              <a:t>The </a:t>
            </a:r>
            <a:r>
              <a:rPr kumimoji="0" lang="en-US" altLang="en-US" sz="1800" b="0" i="0" u="none" strike="noStrike" cap="none" normalizeH="0" baseline="0" dirty="0">
                <a:ln>
                  <a:noFill/>
                </a:ln>
                <a:solidFill>
                  <a:schemeClr val="tx1"/>
                </a:solidFill>
                <a:effectLst/>
                <a:latin typeface="Arial" panose="020B0604020202020204" pitchFamily="34" charset="0"/>
              </a:rPr>
              <a:t>cumulative payments made by customers toward loans.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Increasing payments reflect healthy repayment behavior and reduced default risk.</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Arial" panose="020B0604020202020204" pitchFamily="34" charset="0"/>
              </a:rPr>
              <a:t>Annual Income</a:t>
            </a:r>
            <a:r>
              <a:rPr kumimoji="0" lang="en-US" altLang="en-US" sz="1800" b="0" i="0" u="none" strike="noStrike" cap="none" normalizeH="0" baseline="0" dirty="0">
                <a:ln>
                  <a:noFill/>
                </a:ln>
                <a:solidFill>
                  <a:schemeClr val="tx1"/>
                </a:solidFill>
                <a:effectLst/>
                <a:latin typeface="Arial" panose="020B0604020202020204" pitchFamily="34" charset="0"/>
              </a:rPr>
              <a:t> </a:t>
            </a:r>
            <a:r>
              <a:rPr lang="en-US" altLang="en-US" sz="1800" i="1" dirty="0">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The reported yearly income of customers. </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1" u="none" strike="noStrike" cap="none" normalizeH="0" baseline="0" dirty="0">
                <a:ln>
                  <a:noFill/>
                </a:ln>
                <a:solidFill>
                  <a:schemeClr val="tx1"/>
                </a:solidFill>
                <a:effectLst/>
                <a:latin typeface="Arial" panose="020B0604020202020204" pitchFamily="34" charset="0"/>
              </a:rPr>
              <a:t>Insight</a:t>
            </a:r>
            <a:r>
              <a:rPr kumimoji="0" lang="en-US" altLang="en-US" sz="1800" b="0" i="1" u="none" strike="noStrike" cap="none" normalizeH="0" baseline="0" dirty="0">
                <a:ln>
                  <a:noFill/>
                </a:ln>
                <a:solidFill>
                  <a:schemeClr val="tx1"/>
                </a:solidFill>
                <a:effectLst/>
                <a:latin typeface="Arial" panose="020B0604020202020204" pitchFamily="34" charset="0"/>
              </a:rPr>
              <a:t>:</a:t>
            </a:r>
            <a:r>
              <a:rPr kumimoji="0" lang="en-US" altLang="en-US" sz="1800" b="0" i="0" u="none" strike="noStrike" cap="none" normalizeH="0" baseline="0" dirty="0">
                <a:ln>
                  <a:noFill/>
                </a:ln>
                <a:solidFill>
                  <a:schemeClr val="tx1"/>
                </a:solidFill>
                <a:effectLst/>
                <a:latin typeface="Arial" panose="020B0604020202020204" pitchFamily="34" charset="0"/>
              </a:rPr>
              <a:t> Higher incomes correlate with stronger repayment capacity and lower risk exposure.</a:t>
            </a:r>
          </a:p>
        </p:txBody>
      </p:sp>
    </p:spTree>
    <p:extLst>
      <p:ext uri="{BB962C8B-B14F-4D97-AF65-F5344CB8AC3E}">
        <p14:creationId xmlns:p14="http://schemas.microsoft.com/office/powerpoint/2010/main" val="40239014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E860CA-E6E7-2E4C-DF70-C65FFDABEA36}"/>
              </a:ext>
            </a:extLst>
          </p:cNvPr>
          <p:cNvSpPr>
            <a:spLocks noGrp="1"/>
          </p:cNvSpPr>
          <p:nvPr>
            <p:ph type="title"/>
          </p:nvPr>
        </p:nvSpPr>
        <p:spPr/>
        <p:txBody>
          <a:bodyPr/>
          <a:lstStyle/>
          <a:p>
            <a:r>
              <a:rPr lang="en-US" dirty="0"/>
              <a:t>Final Insights</a:t>
            </a:r>
            <a:endParaRPr lang="en-IN" dirty="0"/>
          </a:p>
        </p:txBody>
      </p:sp>
      <p:sp>
        <p:nvSpPr>
          <p:cNvPr id="3" name="Content Placeholder 2">
            <a:extLst>
              <a:ext uri="{FF2B5EF4-FFF2-40B4-BE49-F238E27FC236}">
                <a16:creationId xmlns:a16="http://schemas.microsoft.com/office/drawing/2014/main" id="{D4D18223-A6A4-3F26-C388-086A542B2074}"/>
              </a:ext>
            </a:extLst>
          </p:cNvPr>
          <p:cNvSpPr>
            <a:spLocks noGrp="1"/>
          </p:cNvSpPr>
          <p:nvPr>
            <p:ph idx="1"/>
          </p:nvPr>
        </p:nvSpPr>
        <p:spPr/>
        <p:txBody>
          <a:bodyPr/>
          <a:lstStyle/>
          <a:p>
            <a:pPr marL="0" indent="0">
              <a:buNone/>
            </a:pPr>
            <a:r>
              <a:rPr lang="en-US" dirty="0"/>
              <a:t>In summary my dashboard shows :</a:t>
            </a:r>
          </a:p>
          <a:p>
            <a:r>
              <a:rPr lang="en-US" dirty="0"/>
              <a:t>Loan amount increases every year </a:t>
            </a:r>
          </a:p>
          <a:p>
            <a:r>
              <a:rPr lang="en-US" dirty="0"/>
              <a:t>Grade B,C,D have more balance </a:t>
            </a:r>
          </a:p>
          <a:p>
            <a:r>
              <a:rPr lang="en-US" dirty="0"/>
              <a:t>Verified customers pay more</a:t>
            </a:r>
          </a:p>
          <a:p>
            <a:r>
              <a:rPr lang="en-US" dirty="0"/>
              <a:t>Some States have better loan performance</a:t>
            </a:r>
          </a:p>
          <a:p>
            <a:r>
              <a:rPr lang="en-US" dirty="0"/>
              <a:t>Mortgage and rent customers make more payments</a:t>
            </a:r>
            <a:endParaRPr lang="en-IN" dirty="0"/>
          </a:p>
        </p:txBody>
      </p:sp>
    </p:spTree>
    <p:extLst>
      <p:ext uri="{BB962C8B-B14F-4D97-AF65-F5344CB8AC3E}">
        <p14:creationId xmlns:p14="http://schemas.microsoft.com/office/powerpoint/2010/main" val="4428057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41664-D854-2DD8-A041-FCE5F8F5DD14}"/>
              </a:ext>
            </a:extLst>
          </p:cNvPr>
          <p:cNvSpPr>
            <a:spLocks noGrp="1"/>
          </p:cNvSpPr>
          <p:nvPr>
            <p:ph type="title"/>
          </p:nvPr>
        </p:nvSpPr>
        <p:spPr/>
        <p:txBody>
          <a:bodyPr>
            <a:normAutofit/>
          </a:bodyPr>
          <a:lstStyle/>
          <a:p>
            <a:r>
              <a:rPr lang="en-US" dirty="0"/>
              <a:t>Key Learnings from the Project</a:t>
            </a:r>
            <a:endParaRPr lang="en-IN" dirty="0"/>
          </a:p>
        </p:txBody>
      </p:sp>
      <p:sp>
        <p:nvSpPr>
          <p:cNvPr id="3" name="Content Placeholder 2">
            <a:extLst>
              <a:ext uri="{FF2B5EF4-FFF2-40B4-BE49-F238E27FC236}">
                <a16:creationId xmlns:a16="http://schemas.microsoft.com/office/drawing/2014/main" id="{4B45BE24-EA1B-5B95-A479-77220462C577}"/>
              </a:ext>
            </a:extLst>
          </p:cNvPr>
          <p:cNvSpPr>
            <a:spLocks noGrp="1"/>
          </p:cNvSpPr>
          <p:nvPr>
            <p:ph idx="1"/>
          </p:nvPr>
        </p:nvSpPr>
        <p:spPr/>
        <p:txBody>
          <a:bodyPr>
            <a:normAutofit fontScale="92500" lnSpcReduction="10000"/>
          </a:bodyPr>
          <a:lstStyle/>
          <a:p>
            <a:pPr marL="0" indent="0">
              <a:buNone/>
            </a:pPr>
            <a:r>
              <a:rPr lang="en-US" dirty="0"/>
              <a:t>This project strengthened our ability to approach data problems from raw data to actionable business insights.</a:t>
            </a:r>
          </a:p>
          <a:p>
            <a:endParaRPr lang="en-US" dirty="0"/>
          </a:p>
          <a:p>
            <a:r>
              <a:rPr lang="en-US" dirty="0"/>
              <a:t>Handling raw data efficiently</a:t>
            </a:r>
          </a:p>
          <a:p>
            <a:r>
              <a:rPr lang="en-US" dirty="0"/>
              <a:t> Selecting meaningful KPIs </a:t>
            </a:r>
          </a:p>
          <a:p>
            <a:r>
              <a:rPr lang="en-US" dirty="0"/>
              <a:t>Choosing the right visualization</a:t>
            </a:r>
          </a:p>
          <a:p>
            <a:r>
              <a:rPr lang="en-US" dirty="0"/>
              <a:t> Converting data into business insights </a:t>
            </a:r>
          </a:p>
          <a:p>
            <a:r>
              <a:rPr lang="en-US" dirty="0"/>
              <a:t>End-to-end analytical thinking</a:t>
            </a:r>
            <a:endParaRPr lang="en-IN" dirty="0"/>
          </a:p>
        </p:txBody>
      </p:sp>
    </p:spTree>
    <p:extLst>
      <p:ext uri="{BB962C8B-B14F-4D97-AF65-F5344CB8AC3E}">
        <p14:creationId xmlns:p14="http://schemas.microsoft.com/office/powerpoint/2010/main" val="28454753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38C-C30B-E66D-F5E6-694AAC963D78}"/>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1B795C79-0269-78B4-3B18-62DD7D144D0A}"/>
              </a:ext>
            </a:extLst>
          </p:cNvPr>
          <p:cNvSpPr>
            <a:spLocks noGrp="1"/>
          </p:cNvSpPr>
          <p:nvPr>
            <p:ph idx="1"/>
          </p:nvPr>
        </p:nvSpPr>
        <p:spPr/>
        <p:txBody>
          <a:bodyPr/>
          <a:lstStyle/>
          <a:p>
            <a:pPr marL="0" indent="0">
              <a:buNone/>
            </a:pPr>
            <a:r>
              <a:rPr lang="en-US" dirty="0"/>
              <a:t>This project demonstrates how loan and customer data can be transformed into actionable KPIs that help banks improve credit risk management, optimize lending strategies, and enhance portfolio performance.</a:t>
            </a:r>
            <a:endParaRPr lang="en-IN" dirty="0"/>
          </a:p>
        </p:txBody>
      </p:sp>
    </p:spTree>
    <p:extLst>
      <p:ext uri="{BB962C8B-B14F-4D97-AF65-F5344CB8AC3E}">
        <p14:creationId xmlns:p14="http://schemas.microsoft.com/office/powerpoint/2010/main" val="223364809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3220FF-DE38-3EDB-EE60-79213DE32EED}"/>
              </a:ext>
            </a:extLst>
          </p:cNvPr>
          <p:cNvSpPr>
            <a:spLocks noGrp="1"/>
          </p:cNvSpPr>
          <p:nvPr>
            <p:ph type="title"/>
          </p:nvPr>
        </p:nvSpPr>
        <p:spPr/>
        <p:txBody>
          <a:bodyPr/>
          <a:lstStyle/>
          <a:p>
            <a:r>
              <a:rPr lang="en-US" dirty="0"/>
              <a:t>Thankyou </a:t>
            </a:r>
            <a:endParaRPr lang="en-IN" dirty="0"/>
          </a:p>
        </p:txBody>
      </p:sp>
      <p:sp>
        <p:nvSpPr>
          <p:cNvPr id="3" name="Content Placeholder 2">
            <a:extLst>
              <a:ext uri="{FF2B5EF4-FFF2-40B4-BE49-F238E27FC236}">
                <a16:creationId xmlns:a16="http://schemas.microsoft.com/office/drawing/2014/main" id="{0B041F2B-13ED-ED8E-1C32-51AC81857CC8}"/>
              </a:ext>
            </a:extLst>
          </p:cNvPr>
          <p:cNvSpPr>
            <a:spLocks noGrp="1"/>
          </p:cNvSpPr>
          <p:nvPr>
            <p:ph idx="1"/>
          </p:nvPr>
        </p:nvSpPr>
        <p:spPr/>
        <p:txBody>
          <a:bodyPr/>
          <a:lstStyle/>
          <a:p>
            <a:pPr marL="0" indent="0">
              <a:buNone/>
            </a:pPr>
            <a:endParaRPr lang="en-IN" dirty="0"/>
          </a:p>
        </p:txBody>
      </p:sp>
    </p:spTree>
    <p:extLst>
      <p:ext uri="{BB962C8B-B14F-4D97-AF65-F5344CB8AC3E}">
        <p14:creationId xmlns:p14="http://schemas.microsoft.com/office/powerpoint/2010/main" val="1143065149"/>
      </p:ext>
    </p:extLst>
  </p:cSld>
  <p:clrMapOvr>
    <a:masterClrMapping/>
  </p:clrMapOvr>
</p:sld>
</file>

<file path=ppt/theme/theme1.xml><?xml version="1.0" encoding="utf-8"?>
<a:theme xmlns:a="http://schemas.openxmlformats.org/drawingml/2006/main" name="Gallery">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122</TotalTime>
  <Words>524</Words>
  <Application>Microsoft Office PowerPoint</Application>
  <PresentationFormat>Widescreen</PresentationFormat>
  <Paragraphs>69</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Franklin Gothic Book</vt:lpstr>
      <vt:lpstr>Franklin Gothic Medium</vt:lpstr>
      <vt:lpstr>Gallery</vt:lpstr>
      <vt:lpstr>BANK ANALYTICS BY GROUP-2</vt:lpstr>
      <vt:lpstr>Project Overview</vt:lpstr>
      <vt:lpstr>END-TO-END PROJECT WORKFLOW</vt:lpstr>
      <vt:lpstr>OBJECTIVE</vt:lpstr>
      <vt:lpstr>Excel Dashboard</vt:lpstr>
      <vt:lpstr>Powerbi Dashboard</vt:lpstr>
      <vt:lpstr>Tableau Dashboard</vt:lpstr>
      <vt:lpstr>SQL KPI’S</vt:lpstr>
      <vt:lpstr>CHALLENGES</vt:lpstr>
      <vt:lpstr>KPI’s :</vt:lpstr>
      <vt:lpstr>Final Insights</vt:lpstr>
      <vt:lpstr>Key Learnings from the Project</vt:lpstr>
      <vt:lpstr>Conclusion</vt:lpstr>
      <vt:lpstr>Thankyou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harshali sonawane</dc:creator>
  <cp:lastModifiedBy>ishikakadam2003@gmail.com</cp:lastModifiedBy>
  <cp:revision>3</cp:revision>
  <dcterms:created xsi:type="dcterms:W3CDTF">2026-02-09T07:17:19Z</dcterms:created>
  <dcterms:modified xsi:type="dcterms:W3CDTF">2026-06-08T08:52:59Z</dcterms:modified>
</cp:coreProperties>
</file>